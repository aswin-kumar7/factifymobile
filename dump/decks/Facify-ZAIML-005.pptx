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C7EB"/>
    <a:srgbClr val="C992E0"/>
    <a:srgbClr val="794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6A32B-AF98-32A6-FF67-98DF710E9F25}" v="2" dt="2026-07-15T14:54:38.497"/>
    <p1510:client id="{5019EB2B-FD36-3F1D-61F7-F7B527B09BD4}" v="4" dt="2026-07-15T09:05:41.581"/>
    <p1510:client id="{A34005D9-4F6E-7F17-2B4D-81DC4CD8D68A}" v="1" dt="2026-07-15T09:06:15.248"/>
    <p1510:client id="{C552133B-9BAD-4A02-A6AB-80BBFAF86ABF}" v="24" dt="2026-07-15T06:38:27.589"/>
    <p1510:client id="{DACA8287-E00C-476C-364B-0FD458439374}" v="7" dt="2026-07-15T09:10:11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osina" userId="S::mosina@zeaisoft.com::e1eb3ee2-19b6-41a7-8cc1-f4ece9e121c6" providerId="AD" clId="Web-{DACA8287-E00C-476C-364B-0FD458439374}"/>
    <pc:docChg chg="modSld">
      <pc:chgData name="S Mosina" userId="S::mosina@zeaisoft.com::e1eb3ee2-19b6-41a7-8cc1-f4ece9e121c6" providerId="AD" clId="Web-{DACA8287-E00C-476C-364B-0FD458439374}" dt="2026-07-15T09:10:11.322" v="3" actId="20577"/>
      <pc:docMkLst>
        <pc:docMk/>
      </pc:docMkLst>
      <pc:sldChg chg="addSp modSp">
        <pc:chgData name="S Mosina" userId="S::mosina@zeaisoft.com::e1eb3ee2-19b6-41a7-8cc1-f4ece9e121c6" providerId="AD" clId="Web-{DACA8287-E00C-476C-364B-0FD458439374}" dt="2026-07-15T09:10:11.322" v="3" actId="20577"/>
        <pc:sldMkLst>
          <pc:docMk/>
          <pc:sldMk cId="2679685554" sldId="257"/>
        </pc:sldMkLst>
        <pc:spChg chg="add mod">
          <ac:chgData name="S Mosina" userId="S::mosina@zeaisoft.com::e1eb3ee2-19b6-41a7-8cc1-f4ece9e121c6" providerId="AD" clId="Web-{DACA8287-E00C-476C-364B-0FD458439374}" dt="2026-07-15T09:10:11.322" v="3" actId="20577"/>
          <ac:spMkLst>
            <pc:docMk/>
            <pc:sldMk cId="2679685554" sldId="257"/>
            <ac:spMk id="6" creationId="{E894C193-4B43-4809-A8D9-B5E76C6471A3}"/>
          </ac:spMkLst>
        </pc:spChg>
      </pc:sldChg>
    </pc:docChg>
  </pc:docChgLst>
  <pc:docChgLst>
    <pc:chgData name="Guest User" userId="S::urn:spo:tenantanon#ace3c1bc-568c-4b7d-abba-74ccab81c2ca::" providerId="AD" clId="Web-{2DF6A32B-AF98-32A6-FF67-98DF710E9F25}"/>
    <pc:docChg chg="sldOrd">
      <pc:chgData name="Guest User" userId="S::urn:spo:tenantanon#ace3c1bc-568c-4b7d-abba-74ccab81c2ca::" providerId="AD" clId="Web-{2DF6A32B-AF98-32A6-FF67-98DF710E9F25}" dt="2026-07-15T14:54:38.497" v="1"/>
      <pc:docMkLst>
        <pc:docMk/>
      </pc:docMkLst>
      <pc:sldChg chg="ord">
        <pc:chgData name="Guest User" userId="S::urn:spo:tenantanon#ace3c1bc-568c-4b7d-abba-74ccab81c2ca::" providerId="AD" clId="Web-{2DF6A32B-AF98-32A6-FF67-98DF710E9F25}" dt="2026-07-15T14:54:38.497" v="1"/>
        <pc:sldMkLst>
          <pc:docMk/>
          <pc:sldMk cId="2679685554" sldId="257"/>
        </pc:sldMkLst>
      </pc:sldChg>
    </pc:docChg>
  </pc:docChgLst>
  <pc:docChgLst>
    <pc:chgData name="S Mosina" userId="e1eb3ee2-19b6-41a7-8cc1-f4ece9e121c6" providerId="ADAL" clId="{ACE826F9-9898-41F9-9C73-D9BE1E85D811}"/>
    <pc:docChg chg="undo custSel modSld">
      <pc:chgData name="S Mosina" userId="e1eb3ee2-19b6-41a7-8cc1-f4ece9e121c6" providerId="ADAL" clId="{ACE826F9-9898-41F9-9C73-D9BE1E85D811}" dt="2026-07-15T06:38:27.589" v="25"/>
      <pc:docMkLst>
        <pc:docMk/>
      </pc:docMkLst>
      <pc:sldChg chg="addSp delSp modSp mod setBg chgLayout">
        <pc:chgData name="S Mosina" userId="e1eb3ee2-19b6-41a7-8cc1-f4ece9e121c6" providerId="ADAL" clId="{ACE826F9-9898-41F9-9C73-D9BE1E85D811}" dt="2026-07-15T06:37:53.181" v="20"/>
        <pc:sldMkLst>
          <pc:docMk/>
          <pc:sldMk cId="109857222" sldId="256"/>
        </pc:sldMkLst>
        <pc:spChg chg="mod or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6" creationId="{A80C0C3A-EC9F-6874-A891-0795D7619072}"/>
          </ac:spMkLst>
        </pc:spChg>
        <pc:spChg chg="add del mod">
          <ac:chgData name="S Mosina" userId="e1eb3ee2-19b6-41a7-8cc1-f4ece9e121c6" providerId="ADAL" clId="{ACE826F9-9898-41F9-9C73-D9BE1E85D811}" dt="2026-07-15T06:37:34.846" v="18" actId="6264"/>
          <ac:spMkLst>
            <pc:docMk/>
            <pc:sldMk cId="109857222" sldId="256"/>
            <ac:spMk id="7" creationId="{67650F6E-64DF-D3E5-895B-B9DF84F64290}"/>
          </ac:spMkLst>
        </pc:spChg>
      </pc:sldChg>
      <pc:sldChg chg="modSp mod setBg">
        <pc:chgData name="S Mosina" userId="e1eb3ee2-19b6-41a7-8cc1-f4ece9e121c6" providerId="ADAL" clId="{ACE826F9-9898-41F9-9C73-D9BE1E85D811}" dt="2026-07-15T06:38:14.376" v="23"/>
        <pc:sldMkLst>
          <pc:docMk/>
          <pc:sldMk cId="2679685554" sldId="257"/>
        </pc:sldMkLst>
        <pc:spChg chg="mod">
          <ac:chgData name="S Mosina" userId="e1eb3ee2-19b6-41a7-8cc1-f4ece9e121c6" providerId="ADAL" clId="{ACE826F9-9898-41F9-9C73-D9BE1E85D811}" dt="2026-07-15T06:25:43.055" v="12" actId="20577"/>
          <ac:spMkLst>
            <pc:docMk/>
            <pc:sldMk cId="2679685554" sldId="257"/>
            <ac:spMk id="3" creationId="{DD7463A0-2E37-6719-E4FA-0D5104EE2ED9}"/>
          </ac:spMkLst>
        </pc:spChg>
      </pc:sldChg>
      <pc:sldChg chg="setBg">
        <pc:chgData name="S Mosina" userId="e1eb3ee2-19b6-41a7-8cc1-f4ece9e121c6" providerId="ADAL" clId="{ACE826F9-9898-41F9-9C73-D9BE1E85D811}" dt="2026-07-15T06:38:08.299" v="22"/>
        <pc:sldMkLst>
          <pc:docMk/>
          <pc:sldMk cId="2369146467" sldId="258"/>
        </pc:sldMkLst>
      </pc:sldChg>
      <pc:sldChg chg="setBg">
        <pc:chgData name="S Mosina" userId="e1eb3ee2-19b6-41a7-8cc1-f4ece9e121c6" providerId="ADAL" clId="{ACE826F9-9898-41F9-9C73-D9BE1E85D811}" dt="2026-07-15T06:38:20.740" v="24"/>
        <pc:sldMkLst>
          <pc:docMk/>
          <pc:sldMk cId="3933289914" sldId="259"/>
        </pc:sldMkLst>
      </pc:sldChg>
      <pc:sldChg chg="modSp mod setBg">
        <pc:chgData name="S Mosina" userId="e1eb3ee2-19b6-41a7-8cc1-f4ece9e121c6" providerId="ADAL" clId="{ACE826F9-9898-41F9-9C73-D9BE1E85D811}" dt="2026-07-15T06:38:27.589" v="25"/>
        <pc:sldMkLst>
          <pc:docMk/>
          <pc:sldMk cId="813691658" sldId="260"/>
        </pc:sldMkLst>
        <pc:spChg chg="mod">
          <ac:chgData name="S Mosina" userId="e1eb3ee2-19b6-41a7-8cc1-f4ece9e121c6" providerId="ADAL" clId="{ACE826F9-9898-41F9-9C73-D9BE1E85D811}" dt="2026-07-13T05:37:12.019" v="1" actId="20577"/>
          <ac:spMkLst>
            <pc:docMk/>
            <pc:sldMk cId="813691658" sldId="260"/>
            <ac:spMk id="3" creationId="{B0DEEBA7-7AEC-B216-345A-557A15F0A54A}"/>
          </ac:spMkLst>
        </pc:spChg>
      </pc:sldChg>
    </pc:docChg>
  </pc:docChgLst>
  <pc:docChgLst>
    <pc:chgData name="Kulothungan" userId="S::kulothungan@zeaisoft.com::9eba6f50-737f-4870-a9ac-b5d9ad2d1857" providerId="AD" clId="Web-{5019EB2B-FD36-3F1D-61F7-F7B527B09BD4}"/>
    <pc:docChg chg="modSld">
      <pc:chgData name="Kulothungan" userId="S::kulothungan@zeaisoft.com::9eba6f50-737f-4870-a9ac-b5d9ad2d1857" providerId="AD" clId="Web-{5019EB2B-FD36-3F1D-61F7-F7B527B09BD4}" dt="2026-07-15T09:05:41.581" v="3"/>
      <pc:docMkLst>
        <pc:docMk/>
      </pc:docMkLst>
      <pc:sldChg chg="addSp delSp modSp">
        <pc:chgData name="Kulothungan" userId="S::kulothungan@zeaisoft.com::9eba6f50-737f-4870-a9ac-b5d9ad2d1857" providerId="AD" clId="Web-{5019EB2B-FD36-3F1D-61F7-F7B527B09BD4}" dt="2026-07-15T09:05:41.581" v="3"/>
        <pc:sldMkLst>
          <pc:docMk/>
          <pc:sldMk cId="2679685554" sldId="257"/>
        </pc:sldMkLst>
        <pc:spChg chg="add del mod">
          <ac:chgData name="Kulothungan" userId="S::kulothungan@zeaisoft.com::9eba6f50-737f-4870-a9ac-b5d9ad2d1857" providerId="AD" clId="Web-{5019EB2B-FD36-3F1D-61F7-F7B527B09BD4}" dt="2026-07-15T09:05:41.581" v="3"/>
          <ac:spMkLst>
            <pc:docMk/>
            <pc:sldMk cId="2679685554" sldId="257"/>
            <ac:spMk id="4" creationId="{EE789183-5F84-D4E8-1717-2E7B575F14B2}"/>
          </ac:spMkLst>
        </pc:spChg>
      </pc:sldChg>
    </pc:docChg>
  </pc:docChgLst>
  <pc:docChgLst>
    <pc:chgData name="Kulothungan" userId="S::kulothungan@zeaisoft.com::9eba6f50-737f-4870-a9ac-b5d9ad2d1857" providerId="AD" clId="Web-{A34005D9-4F6E-7F17-2B4D-81DC4CD8D68A}"/>
    <pc:docChg chg="modSld">
      <pc:chgData name="Kulothungan" userId="S::kulothungan@zeaisoft.com::9eba6f50-737f-4870-a9ac-b5d9ad2d1857" providerId="AD" clId="Web-{A34005D9-4F6E-7F17-2B4D-81DC4CD8D68A}" dt="2026-07-15T09:06:15.248" v="0" actId="14100"/>
      <pc:docMkLst>
        <pc:docMk/>
      </pc:docMkLst>
      <pc:sldChg chg="modSp">
        <pc:chgData name="Kulothungan" userId="S::kulothungan@zeaisoft.com::9eba6f50-737f-4870-a9ac-b5d9ad2d1857" providerId="AD" clId="Web-{A34005D9-4F6E-7F17-2B4D-81DC4CD8D68A}" dt="2026-07-15T09:06:15.248" v="0" actId="14100"/>
        <pc:sldMkLst>
          <pc:docMk/>
          <pc:sldMk cId="109857222" sldId="256"/>
        </pc:sldMkLst>
        <pc:spChg chg="mod">
          <ac:chgData name="Kulothungan" userId="S::kulothungan@zeaisoft.com::9eba6f50-737f-4870-a9ac-b5d9ad2d1857" providerId="AD" clId="Web-{A34005D9-4F6E-7F17-2B4D-81DC4CD8D68A}" dt="2026-07-15T09:06:15.248" v="0" actId="14100"/>
          <ac:spMkLst>
            <pc:docMk/>
            <pc:sldMk cId="109857222" sldId="256"/>
            <ac:spMk id="5" creationId="{9CEC9F97-C5D1-825C-9CA3-25AB4E2DE08F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669367"/>
            <a:ext cx="9144000" cy="2387600"/>
          </a:xfrm>
        </p:spPr>
        <p:txBody>
          <a:bodyPr/>
          <a:lstStyle/>
          <a:p>
            <a:r>
              <a:rPr lang="en-US" sz="4000" b="1"/>
              <a:t>#</a:t>
            </a:r>
            <a:r>
              <a:rPr lang="en-US" sz="4000" b="1">
                <a:solidFill>
                  <a:schemeClr val="accent2"/>
                </a:solidFill>
              </a:rPr>
              <a:t>Made</a:t>
            </a:r>
            <a:r>
              <a:rPr lang="en-US" sz="4000" b="1">
                <a:solidFill>
                  <a:schemeClr val="bg1">
                    <a:lumMod val="49000"/>
                  </a:schemeClr>
                </a:solidFill>
              </a:rPr>
              <a:t>In</a:t>
            </a:r>
            <a:r>
              <a:rPr lang="en-US" sz="4000" b="1">
                <a:solidFill>
                  <a:schemeClr val="accent6"/>
                </a:solidFill>
              </a:rPr>
              <a:t>India</a:t>
            </a:r>
            <a:r>
              <a:rPr lang="en-US" sz="4000" b="1"/>
              <a:t>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1920240"/>
            <a:ext cx="9144000" cy="960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Calibri"/>
              </a:rPr>
              <a:t>Facify</a:t>
            </a:r>
            <a:endParaRPr lang="en-US" b="1">
              <a:latin typeface="Arial"/>
              <a:cs typeface="Arial"/>
            </a:endParaRPr>
          </a:p>
          <a:p>
            <a:pPr algn="ctr"/>
            <a:r>
              <a:rPr sz="1100" b="1">
                <a:solidFill>
                  <a:srgbClr val="8C8C8C"/>
                </a:solidFill>
                <a:latin typeface="Calibri"/>
              </a:rPr>
              <a:t>P R O O F ,   N O T   O P I N I O N</a:t>
            </a:r>
          </a:p>
        </p:txBody>
      </p:sp>
      <p:pic>
        <p:nvPicPr>
          <p:cNvPr id="4" name="Picture 3" descr="A purple and black text&#10;&#10;AI-generated content may be incorrect.">
            <a:extLst>
              <a:ext uri="{FF2B5EF4-FFF2-40B4-BE49-F238E27FC236}">
                <a16:creationId xmlns:a16="http://schemas.microsoft.com/office/drawing/2014/main" id="{38680536-FF4B-57FC-94E7-D17CA41C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EC9F97-C5D1-825C-9CA3-25AB4E2DE08F}"/>
              </a:ext>
            </a:extLst>
          </p:cNvPr>
          <p:cNvSpPr txBox="1"/>
          <p:nvPr/>
        </p:nvSpPr>
        <p:spPr>
          <a:xfrm>
            <a:off x="2148840" y="3246120"/>
            <a:ext cx="8595360" cy="2651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 algn="just" rtl="0">
              <a:spcAft>
                <a:spcPts val="1600"/>
              </a:spcAft>
              <a:buNone/>
            </a:pPr>
            <a:r>
              <a:rPr sz="1800" b="1">
                <a:solidFill>
                  <a:srgbClr val="000000"/>
                </a:solidFill>
                <a:latin typeface="Calibri"/>
              </a:rPr>
              <a:t>Problem Statement ID   </a:t>
            </a:r>
            <a:r>
              <a:rPr sz="1800">
                <a:solidFill>
                  <a:srgbClr val="5E5E5E"/>
                </a:solidFill>
                <a:latin typeface="Calibri"/>
              </a:rPr>
              <a:t>ZAIML-005</a:t>
            </a:r>
            <a:endParaRPr lang="en-US"/>
          </a:p>
          <a:p>
            <a:pPr>
              <a:spcAft>
                <a:spcPts val="1600"/>
              </a:spcAft>
              <a:buNone/>
            </a:pPr>
            <a:r>
              <a:rPr sz="1800" b="1">
                <a:solidFill>
                  <a:srgbClr val="000000"/>
                </a:solidFill>
                <a:latin typeface="Calibri"/>
              </a:rPr>
              <a:t>Problem Statement Title   </a:t>
            </a:r>
            <a:r>
              <a:rPr sz="1800">
                <a:solidFill>
                  <a:srgbClr val="5E5E5E"/>
                </a:solidFill>
                <a:latin typeface="Calibri"/>
              </a:rPr>
              <a:t>Fake News &amp; Deepfake Detection Platform</a:t>
            </a:r>
          </a:p>
          <a:p>
            <a:pPr>
              <a:spcAft>
                <a:spcPts val="1600"/>
              </a:spcAft>
              <a:buNone/>
            </a:pPr>
            <a:r>
              <a:rPr sz="1800" b="1">
                <a:solidFill>
                  <a:srgbClr val="000000"/>
                </a:solidFill>
                <a:latin typeface="Calibri"/>
              </a:rPr>
              <a:t>Track   </a:t>
            </a:r>
            <a:r>
              <a:rPr sz="1800">
                <a:solidFill>
                  <a:srgbClr val="5E5E5E"/>
                </a:solidFill>
                <a:latin typeface="Calibri"/>
              </a:rPr>
              <a:t>ZAIML  |  Artificial Intelligence &amp; Machine Learning</a:t>
            </a:r>
          </a:p>
          <a:p>
            <a:pPr>
              <a:spcAft>
                <a:spcPts val="1600"/>
              </a:spcAft>
              <a:buNone/>
            </a:pPr>
            <a:r>
              <a:rPr sz="1800" b="1">
                <a:solidFill>
                  <a:srgbClr val="000000"/>
                </a:solidFill>
                <a:latin typeface="Calibri"/>
              </a:rPr>
              <a:t>Team ID   </a:t>
            </a:r>
            <a:r>
              <a:rPr sz="1800">
                <a:solidFill>
                  <a:srgbClr val="5E5E5E"/>
                </a:solidFill>
                <a:latin typeface="Calibri"/>
              </a:rPr>
              <a:t/>
            </a:r>
          </a:p>
          <a:p>
            <a:pPr>
              <a:spcAft>
                <a:spcPts val="1600"/>
              </a:spcAft>
              <a:buNone/>
            </a:pPr>
            <a:r>
              <a:rPr sz="1800" b="1">
                <a:solidFill>
                  <a:srgbClr val="000000"/>
                </a:solidFill>
                <a:latin typeface="Calibri"/>
              </a:rPr>
              <a:t>Team Name   </a:t>
            </a:r>
            <a:r>
              <a:rPr sz="1800">
                <a:solidFill>
                  <a:srgbClr val="5E5E5E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A64F-7620-910F-C19F-3DF2617C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Solution</a:t>
            </a:r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D2F89D4C-086C-9C37-8F9C-591A91E5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India’s crisis is not mostly deepfakes — it is REAL media carrying a FALSE caption.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48256"/>
            <a:ext cx="4983480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422392" y="2167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8C8C8C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231136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10">
                <a:solidFill>
                  <a:srgbClr val="8C8C8C"/>
                </a:solidFill>
                <a:latin typeface="Calibri"/>
              </a:rPr>
              <a:t>CONVENTIONAL DEEPFAKE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56032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8C8C8C"/>
                </a:solidFill>
                <a:latin typeface="Calibri"/>
              </a:rPr>
              <a:t>“AUTHENTIC — 94%”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1638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Calibri"/>
              </a:rPr>
              <a:t>Correct. And useless — the pixels were never fake.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2048256"/>
            <a:ext cx="4983480" cy="1572768"/>
          </a:xfrm>
          <a:prstGeom prst="roundRect">
            <a:avLst>
              <a:gd name="adj" fmla="val 4500"/>
            </a:avLst>
          </a:prstGeom>
          <a:solidFill>
            <a:srgbClr val="F6F6F6"/>
          </a:solidFill>
          <a:ln w="22225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954512" y="2167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2231136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10">
                <a:solidFill>
                  <a:srgbClr val="5E5E5E"/>
                </a:solidFill>
                <a:latin typeface="Calibri"/>
              </a:rPr>
              <a:t>FACIFY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56032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DISPUTED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1638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First seen 09 Oct 2023  ·  Gaza airstrike  ·  2 published fact-checks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12463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</a:rPr>
              <a:t>Real case: 2023 Gaza footage circulated in India as an Indian missile strike.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631289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1708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WhatsApp 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01768"/>
            <a:ext cx="17080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any app</a:t>
            </a:r>
          </a:p>
        </p:txBody>
      </p:sp>
      <p:sp>
        <p:nvSpPr>
          <p:cNvPr id="22" name="Chevron 21"/>
          <p:cNvSpPr/>
          <p:nvPr/>
        </p:nvSpPr>
        <p:spPr>
          <a:xfrm>
            <a:off x="2741371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06547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796588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9699" y="4736592"/>
            <a:ext cx="1708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Share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9699" y="5001768"/>
            <a:ext cx="17080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one tap</a:t>
            </a:r>
          </a:p>
        </p:txBody>
      </p:sp>
      <p:sp>
        <p:nvSpPr>
          <p:cNvPr id="27" name="Chevron 26"/>
          <p:cNvSpPr/>
          <p:nvPr/>
        </p:nvSpPr>
        <p:spPr>
          <a:xfrm>
            <a:off x="4906670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71846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961888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4998" y="4736592"/>
            <a:ext cx="1708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Evidence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4998" y="5001768"/>
            <a:ext cx="17080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5 collectors</a:t>
            </a:r>
          </a:p>
        </p:txBody>
      </p:sp>
      <p:sp>
        <p:nvSpPr>
          <p:cNvPr id="32" name="Chevron 31"/>
          <p:cNvSpPr/>
          <p:nvPr/>
        </p:nvSpPr>
        <p:spPr>
          <a:xfrm>
            <a:off x="7071969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7145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127187" y="434340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0297" y="4736592"/>
            <a:ext cx="1708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Verdict + 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0297" y="5001768"/>
            <a:ext cx="17080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clickable</a:t>
            </a:r>
          </a:p>
        </p:txBody>
      </p:sp>
      <p:sp>
        <p:nvSpPr>
          <p:cNvPr id="37" name="Chevron 36"/>
          <p:cNvSpPr/>
          <p:nvPr/>
        </p:nvSpPr>
        <p:spPr>
          <a:xfrm>
            <a:off x="9237268" y="4800600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02444" y="4498848"/>
            <a:ext cx="1854403" cy="786384"/>
          </a:xfrm>
          <a:prstGeom prst="roundRect">
            <a:avLst>
              <a:gd name="adj" fmla="val 45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292486" y="43434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5596" y="4736592"/>
            <a:ext cx="1708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Reply 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5596" y="5001768"/>
            <a:ext cx="17080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D8D8D8"/>
                </a:solidFill>
                <a:latin typeface="Calibri"/>
              </a:rPr>
              <a:t>back to group</a:t>
            </a:r>
          </a:p>
        </p:txBody>
      </p:sp>
      <p:sp>
        <p:nvSpPr>
          <p:cNvPr id="42" name="Oval 41"/>
          <p:cNvSpPr/>
          <p:nvPr/>
        </p:nvSpPr>
        <p:spPr>
          <a:xfrm>
            <a:off x="841247" y="5605271"/>
            <a:ext cx="128016" cy="1280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577840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No platform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833872"/>
            <a:ext cx="3072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Android share intent — no Meta approval, no number</a:t>
            </a:r>
          </a:p>
        </p:txBody>
      </p:sp>
      <p:sp>
        <p:nvSpPr>
          <p:cNvPr id="45" name="Oval 44"/>
          <p:cNvSpPr/>
          <p:nvPr/>
        </p:nvSpPr>
        <p:spPr>
          <a:xfrm>
            <a:off x="4443984" y="5605271"/>
            <a:ext cx="128016" cy="1280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5577840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Three verdict states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8" y="5833872"/>
            <a:ext cx="3072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VERIFIED · DISPUTED · UNVERIFIABLE</a:t>
            </a:r>
          </a:p>
        </p:txBody>
      </p:sp>
      <p:sp>
        <p:nvSpPr>
          <p:cNvPr id="48" name="Oval 47"/>
          <p:cNvSpPr/>
          <p:nvPr/>
        </p:nvSpPr>
        <p:spPr>
          <a:xfrm>
            <a:off x="8046720" y="5605271"/>
            <a:ext cx="128016" cy="1280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5577840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10 Indian languages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5833872"/>
            <a:ext cx="3072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E5E"/>
                </a:solidFill>
                <a:latin typeface="Calibri"/>
              </a:rPr>
              <a:t>Verdict returned in the user’s own language</a:t>
            </a:r>
          </a:p>
        </p:txBody>
      </p:sp>
    </p:spTree>
    <p:extLst>
      <p:ext uri="{BB962C8B-B14F-4D97-AF65-F5344CB8AC3E}">
        <p14:creationId xmlns:p14="http://schemas.microsoft.com/office/powerpoint/2010/main" val="267968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158A-B1A6-C1CB-A618-50475998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Technical Strategy</a:t>
            </a:r>
            <a:endParaRPr lang="en-US"/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1D569848-89DF-6AE6-93FB-A01A4E26E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" y="1499616"/>
            <a:ext cx="10515600" cy="457200"/>
          </a:xfrm>
          <a:prstGeom prst="roundRect">
            <a:avLst>
              <a:gd name="adj" fmla="val 3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149961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AI does the perception and the language.   Evidence does the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2322576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000000"/>
                </a:solidFill>
                <a:latin typeface="Calibri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6946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Flutter / Android</a:t>
            </a:r>
          </a:p>
        </p:txBody>
      </p:sp>
      <p:sp>
        <p:nvSpPr>
          <p:cNvPr id="11" name="Oval 10"/>
          <p:cNvSpPr/>
          <p:nvPr/>
        </p:nvSpPr>
        <p:spPr>
          <a:xfrm>
            <a:off x="1044702" y="2882645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39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Share-intent receiver</a:t>
            </a:r>
          </a:p>
        </p:txBody>
      </p:sp>
      <p:sp>
        <p:nvSpPr>
          <p:cNvPr id="13" name="Oval 12"/>
          <p:cNvSpPr/>
          <p:nvPr/>
        </p:nvSpPr>
        <p:spPr>
          <a:xfrm>
            <a:off x="1044702" y="3129533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81527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pHash · EXIF · C2PA</a:t>
            </a:r>
          </a:p>
        </p:txBody>
      </p:sp>
      <p:sp>
        <p:nvSpPr>
          <p:cNvPr id="15" name="Oval 14"/>
          <p:cNvSpPr/>
          <p:nvPr/>
        </p:nvSpPr>
        <p:spPr>
          <a:xfrm>
            <a:off x="1044702" y="3376421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28415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Keyframe extraction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44702" y="3623309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75303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Offline verdict cache</a:t>
            </a:r>
          </a:p>
        </p:txBody>
      </p:sp>
      <p:sp>
        <p:nvSpPr>
          <p:cNvPr id="19" name="Chevron 18"/>
          <p:cNvSpPr/>
          <p:nvPr/>
        </p:nvSpPr>
        <p:spPr>
          <a:xfrm>
            <a:off x="3236975" y="2916936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66160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49039" y="2322576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000000"/>
                </a:solidFill>
                <a:latin typeface="Calibri"/>
              </a:rPr>
              <a:t>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56946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FastAPI · Cloud Run</a:t>
            </a:r>
          </a:p>
        </p:txBody>
      </p:sp>
      <p:sp>
        <p:nvSpPr>
          <p:cNvPr id="23" name="Oval 22"/>
          <p:cNvSpPr/>
          <p:nvPr/>
        </p:nvSpPr>
        <p:spPr>
          <a:xfrm>
            <a:off x="3769614" y="2882645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2834639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Gateway + orchestrator</a:t>
            </a:r>
          </a:p>
        </p:txBody>
      </p:sp>
      <p:sp>
        <p:nvSpPr>
          <p:cNvPr id="25" name="Oval 24"/>
          <p:cNvSpPr/>
          <p:nvPr/>
        </p:nvSpPr>
        <p:spPr>
          <a:xfrm>
            <a:off x="3769614" y="3129533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3081527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Redis pHash cache</a:t>
            </a:r>
          </a:p>
        </p:txBody>
      </p:sp>
      <p:sp>
        <p:nvSpPr>
          <p:cNvPr id="27" name="Oval 26"/>
          <p:cNvSpPr/>
          <p:nvPr/>
        </p:nvSpPr>
        <p:spPr>
          <a:xfrm>
            <a:off x="3769614" y="3376421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3328415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Postgres + pgvector</a:t>
            </a:r>
          </a:p>
        </p:txBody>
      </p:sp>
      <p:sp>
        <p:nvSpPr>
          <p:cNvPr id="29" name="Oval 28"/>
          <p:cNvSpPr/>
          <p:nvPr/>
        </p:nvSpPr>
        <p:spPr>
          <a:xfrm>
            <a:off x="3769614" y="3623309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2" y="3575303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Hash first, media on demand</a:t>
            </a:r>
          </a:p>
        </p:txBody>
      </p:sp>
      <p:sp>
        <p:nvSpPr>
          <p:cNvPr id="31" name="Chevron 30"/>
          <p:cNvSpPr/>
          <p:nvPr/>
        </p:nvSpPr>
        <p:spPr>
          <a:xfrm>
            <a:off x="5961888" y="2916936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73952" y="2322576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000000"/>
                </a:solidFill>
                <a:latin typeface="Calibri"/>
              </a:rPr>
              <a:t>COLLECTORS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56946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C8C8C"/>
                </a:solidFill>
                <a:latin typeface="Calibri"/>
              </a:rPr>
              <a:t>parallel workers</a:t>
            </a:r>
          </a:p>
        </p:txBody>
      </p:sp>
      <p:sp>
        <p:nvSpPr>
          <p:cNvPr id="35" name="Oval 34"/>
          <p:cNvSpPr/>
          <p:nvPr/>
        </p:nvSpPr>
        <p:spPr>
          <a:xfrm>
            <a:off x="6494526" y="2882645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544" y="2834639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Temporal · Provenance</a:t>
            </a:r>
          </a:p>
        </p:txBody>
      </p:sp>
      <p:sp>
        <p:nvSpPr>
          <p:cNvPr id="37" name="Oval 36"/>
          <p:cNvSpPr/>
          <p:nvPr/>
        </p:nvSpPr>
        <p:spPr>
          <a:xfrm>
            <a:off x="6494526" y="3129533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3081527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Fact-check · Corroboration</a:t>
            </a:r>
          </a:p>
        </p:txBody>
      </p:sp>
      <p:sp>
        <p:nvSpPr>
          <p:cNvPr id="39" name="Oval 38"/>
          <p:cNvSpPr/>
          <p:nvPr/>
        </p:nvSpPr>
        <p:spPr>
          <a:xfrm>
            <a:off x="6494526" y="3376421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3328415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Forensics · Advisory</a:t>
            </a:r>
          </a:p>
        </p:txBody>
      </p:sp>
      <p:sp>
        <p:nvSpPr>
          <p:cNvPr id="41" name="Oval 40"/>
          <p:cNvSpPr/>
          <p:nvPr/>
        </p:nvSpPr>
        <p:spPr>
          <a:xfrm>
            <a:off x="6494526" y="3623309"/>
            <a:ext cx="68580" cy="685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3575303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alibri"/>
              </a:rPr>
              <a:t>Each returns a citation</a:t>
            </a:r>
          </a:p>
        </p:txBody>
      </p:sp>
      <p:sp>
        <p:nvSpPr>
          <p:cNvPr id="43" name="Chevron 42"/>
          <p:cNvSpPr/>
          <p:nvPr/>
        </p:nvSpPr>
        <p:spPr>
          <a:xfrm>
            <a:off x="8686800" y="2916936"/>
            <a:ext cx="237744" cy="182880"/>
          </a:xfrm>
          <a:prstGeom prst="chevron">
            <a:avLst/>
          </a:prstGeom>
          <a:solidFill>
            <a:srgbClr val="C2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15984" y="2157984"/>
            <a:ext cx="2313432" cy="1700784"/>
          </a:xfrm>
          <a:prstGeom prst="roundRect">
            <a:avLst>
              <a:gd name="adj" fmla="val 45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98863" y="2322576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spc="60">
                <a:solidFill>
                  <a:srgbClr val="FFFFFF"/>
                </a:solidFill>
                <a:latin typeface="Calibri"/>
              </a:rPr>
              <a:t>VERDICT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63" y="256946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8D8D8"/>
                </a:solidFill>
                <a:latin typeface="Calibri"/>
              </a:rPr>
              <a:t>deterministic</a:t>
            </a:r>
          </a:p>
        </p:txBody>
      </p:sp>
      <p:sp>
        <p:nvSpPr>
          <p:cNvPr id="47" name="Oval 46"/>
          <p:cNvSpPr/>
          <p:nvPr/>
        </p:nvSpPr>
        <p:spPr>
          <a:xfrm>
            <a:off x="9219438" y="2882645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3456" y="2834639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~20 lines of rules</a:t>
            </a:r>
          </a:p>
        </p:txBody>
      </p:sp>
      <p:sp>
        <p:nvSpPr>
          <p:cNvPr id="49" name="Oval 48"/>
          <p:cNvSpPr/>
          <p:nvPr/>
        </p:nvSpPr>
        <p:spPr>
          <a:xfrm>
            <a:off x="9219438" y="3129533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3081527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Tiers A–D only</a:t>
            </a:r>
          </a:p>
        </p:txBody>
      </p:sp>
      <p:sp>
        <p:nvSpPr>
          <p:cNvPr id="51" name="Oval 50"/>
          <p:cNvSpPr/>
          <p:nvPr/>
        </p:nvSpPr>
        <p:spPr>
          <a:xfrm>
            <a:off x="9219438" y="3376421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3456" y="3328415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No model in this path</a:t>
            </a:r>
          </a:p>
        </p:txBody>
      </p:sp>
      <p:sp>
        <p:nvSpPr>
          <p:cNvPr id="53" name="Oval 52"/>
          <p:cNvSpPr/>
          <p:nvPr/>
        </p:nvSpPr>
        <p:spPr>
          <a:xfrm>
            <a:off x="9219438" y="3623309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3575303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Gemini phrases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40416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00">
                <a:solidFill>
                  <a:srgbClr val="8C8C8C"/>
                </a:solidFill>
                <a:latin typeface="Calibri"/>
              </a:rPr>
              <a:t>EVIDENCE TIERS  —  the verdict is computed only from A–D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978408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3312" y="4507992"/>
            <a:ext cx="13203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Cryptographic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4864608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SynthID via Vertex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" y="5065776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imageverification@001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5266944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C2PA · OpenAI Verify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84601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3121761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6665" y="4507992"/>
            <a:ext cx="13203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Temporal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30905" y="4864608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Cloud Vision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30905" y="5065776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Web Detection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0905" y="5266944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→ Wayback CDX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27955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265115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40019" y="4507992"/>
            <a:ext cx="13203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Adjudicated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74259" y="4864608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Google Fact Check API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74259" y="5065776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Alt News · BOOM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74259" y="5266944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Factly · PIB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1308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7408468" y="4453128"/>
            <a:ext cx="310896" cy="31089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83372" y="4507992"/>
            <a:ext cx="13203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Corroboration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17612" y="4864608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100+ Indian sources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7612" y="5065776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RDAP domain 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7612" y="5266944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Typosquat distance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14662" y="4352544"/>
            <a:ext cx="1942185" cy="1152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9551822" y="4453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C8C8C"/>
                </a:solidFill>
                <a:latin typeface="Calibri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26726" y="4507992"/>
            <a:ext cx="13203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C8C8C"/>
                </a:solidFill>
                <a:latin typeface="Calibri"/>
              </a:rPr>
              <a:t>Model score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60966" y="4864608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Advisory only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60966" y="5065776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never enters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60966" y="5266944"/>
            <a:ext cx="16678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Calibri"/>
              </a:rPr>
              <a:t>the verdict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" y="568756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Flutter  ·  FastAPI  ·  Postgres + pgvector  ·  Redis  ·  Cloud Run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" y="5943600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C8C8C"/>
                </a:solidFill>
                <a:latin typeface="Calibri"/>
              </a:rPr>
              <a:t>Gemini  ·  Cloud Vision  ·  Vertex watermark verification  ·  MuRIL  ·  Chirp STT      —      Gemini offline → verdict unchanged.</a:t>
            </a:r>
          </a:p>
        </p:txBody>
      </p:sp>
    </p:spTree>
    <p:extLst>
      <p:ext uri="{BB962C8B-B14F-4D97-AF65-F5344CB8AC3E}">
        <p14:creationId xmlns:p14="http://schemas.microsoft.com/office/powerpoint/2010/main" val="236914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D773-6BB6-F07F-C8EE-B1B47DF8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Feasibility and Viability</a:t>
            </a:r>
            <a:endParaRPr lang="en-US"/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43833702-D31B-EB9B-DCF7-64B5FEDB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93" y="236192"/>
            <a:ext cx="2366066" cy="985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51790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10">
                <a:solidFill>
                  <a:srgbClr val="8C8C8C"/>
                </a:solidFill>
                <a:latin typeface="Calibri"/>
              </a:rPr>
              <a:t>DELIVERABLE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Calibri"/>
              </a:rPr>
              <a:t>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0116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Calibri"/>
              </a:rPr>
              <a:t>of the brief satisfied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237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Detect AI-generated &amp; manipulated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257403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626864" y="2574036"/>
            <a:ext cx="1193292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53328" y="252374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352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News credibility &amp; source reliability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298551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626864" y="2985516"/>
            <a:ext cx="1259586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53328" y="2935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34670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Explainable authenticity scores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6864" y="339699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626864" y="339699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53328" y="334670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758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Identify misinformation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864" y="380847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626864" y="3808476"/>
            <a:ext cx="1126998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53328" y="375818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169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Fact-checking recommendations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6864" y="4219956"/>
            <a:ext cx="1325880" cy="1051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26864" y="4219956"/>
            <a:ext cx="1259586" cy="10515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53328" y="4169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Calibri"/>
              </a:rPr>
              <a:t>95%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66344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</a:rPr>
              <a:t>Deterministic AI-generation detection — no other team will have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901184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Calibri"/>
              </a:rPr>
              <a:t>Reuses 100+ Indian source database across 10 languages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151790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10">
                <a:solidFill>
                  <a:srgbClr val="8C8C8C"/>
                </a:solidFill>
                <a:latin typeface="Calibri"/>
              </a:rPr>
              <a:t>BUILD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173736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Calibri"/>
              </a:rPr>
              <a:t>₹0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01168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Calibri"/>
              </a:rPr>
              <a:t>marginal cost per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52374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Wayback CDX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523744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free · no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2834639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Google Fact Check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834639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free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145535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Cloud Vision Web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145535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1,000 / month 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3456431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Calibri"/>
              </a:rPr>
              <a:t>Vertex · Gemini · Cloud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456431"/>
            <a:ext cx="1664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5E5E5E"/>
                </a:solidFill>
                <a:latin typeface="Calibri"/>
              </a:rPr>
              <a:t>GCP credits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89534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10">
                <a:solidFill>
                  <a:srgbClr val="8C8C8C"/>
                </a:solidFill>
                <a:latin typeface="Calibri"/>
              </a:rPr>
              <a:t>RISK → MITIGATION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169663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Reverse-image API limits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169663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pHash cache + fallback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4443983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Venue network fails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443983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Pre-warmed local cache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718303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Gemini quota / outage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718303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Verdict path never calls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4992623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Calibri"/>
              </a:rPr>
              <a:t>Unwatermarked generators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992623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E5E"/>
                </a:solidFill>
                <a:latin typeface="Calibri"/>
              </a:rPr>
              <a:t>Reported as probability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5559552"/>
            <a:ext cx="10515600" cy="676656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>
            <a:outerShdw blurRad="55000" dist="16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33856" y="5669280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120">
                <a:solidFill>
                  <a:srgbClr val="8C8C8C"/>
                </a:solidFill>
                <a:latin typeface="Calibri"/>
              </a:rPr>
              <a:t>VIABILITY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" y="5870448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Zero platform approval  ·  works from every app on the phone  ·  unverifiable claims become leads for real fact-checkers</a:t>
            </a:r>
          </a:p>
        </p:txBody>
      </p:sp>
    </p:spTree>
    <p:extLst>
      <p:ext uri="{BB962C8B-B14F-4D97-AF65-F5344CB8AC3E}">
        <p14:creationId xmlns:p14="http://schemas.microsoft.com/office/powerpoint/2010/main" val="393328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#MadeInIndia Hackathon 2026</vt:lpstr>
      <vt:lpstr>Proposed Solution</vt:lpstr>
      <vt:lpstr>Technical Strategy</vt:lpstr>
      <vt:lpstr>Feasibility and Viability</vt:lpstr>
      <vt:lpstr>Important Instructions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Mosina.S</dc:creator>
  <cp:revision>3</cp:revision>
  <dcterms:created xsi:type="dcterms:W3CDTF">2026-06-12T05:15:03Z</dcterms:created>
  <dcterms:modified xsi:type="dcterms:W3CDTF">2026-07-15T14:54:46Z</dcterms:modified>
</cp:coreProperties>
</file>